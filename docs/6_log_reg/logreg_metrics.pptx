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1556640"/>
            <a:ext cx="10362600" cy="20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Образец заголовка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9800" y="0"/>
            <a:ext cx="12171600" cy="970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r">
              <a:lnSpc>
                <a:spcPct val="100000"/>
              </a:lnSpc>
              <a:spcBef>
                <a:spcPts val="2401"/>
              </a:spcBef>
              <a:buNone/>
              <a:tabLst>
                <a:tab algn="l" pos="0"/>
              </a:tabLst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Образец заголовка</a:t>
            </a:r>
            <a:br>
              <a:rPr sz="2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Образец текста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Второй уровень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Третий уровень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Четвертый уровень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Пятый уровень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" name="Straight Connector 2"/>
          <p:cNvCxnSpPr/>
          <p:nvPr/>
        </p:nvCxnSpPr>
        <p:spPr>
          <a:xfrm>
            <a:off x="0" y="1015920"/>
            <a:ext cx="12192480" cy="2160"/>
          </a:xfrm>
          <a:prstGeom prst="straightConnector1">
            <a:avLst/>
          </a:prstGeom>
          <a:ln w="0">
            <a:solidFill>
              <a:srgbClr val="69be28"/>
            </a:solidFill>
          </a:ln>
        </p:spPr>
      </p:cxnSp>
      <p:sp>
        <p:nvSpPr>
          <p:cNvPr id="6" name="Rectangle 4"/>
          <p:cNvSpPr/>
          <p:nvPr/>
        </p:nvSpPr>
        <p:spPr>
          <a:xfrm>
            <a:off x="82800" y="6552720"/>
            <a:ext cx="2844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" name="Прямоугольник 10"/>
          <p:cNvSpPr/>
          <p:nvPr/>
        </p:nvSpPr>
        <p:spPr>
          <a:xfrm>
            <a:off x="0" y="6669360"/>
            <a:ext cx="12211200" cy="1879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" name="Rectangle 4"/>
          <p:cNvSpPr/>
          <p:nvPr/>
        </p:nvSpPr>
        <p:spPr>
          <a:xfrm>
            <a:off x="10622520" y="6606720"/>
            <a:ext cx="1595880" cy="187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Слайд </a:t>
            </a:r>
            <a:fld id="{A3C69353-CEE2-4744-B7BA-015B12188077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2"/>
          <p:cNvCxnSpPr/>
          <p:nvPr/>
        </p:nvCxnSpPr>
        <p:spPr>
          <a:xfrm>
            <a:off x="0" y="1015920"/>
            <a:ext cx="12192480" cy="2160"/>
          </a:xfrm>
          <a:prstGeom prst="straightConnector1">
            <a:avLst/>
          </a:prstGeom>
          <a:ln w="0">
            <a:solidFill>
              <a:srgbClr val="69be28"/>
            </a:solidFill>
          </a:ln>
        </p:spPr>
      </p:cxnSp>
      <p:sp>
        <p:nvSpPr>
          <p:cNvPr id="10" name="Rectangle 4"/>
          <p:cNvSpPr/>
          <p:nvPr/>
        </p:nvSpPr>
        <p:spPr>
          <a:xfrm>
            <a:off x="82800" y="6552720"/>
            <a:ext cx="2844000" cy="259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6669360"/>
            <a:ext cx="12211200" cy="1879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2" name="Rectangle 4"/>
          <p:cNvSpPr/>
          <p:nvPr/>
        </p:nvSpPr>
        <p:spPr>
          <a:xfrm>
            <a:off x="10622520" y="6606720"/>
            <a:ext cx="1595880" cy="1879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Слайд </a:t>
            </a:r>
            <a:fld id="{6AB0402E-DAC3-42E5-877D-EA91FEC323B3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05200" y="871560"/>
            <a:ext cx="10993320" cy="49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483920" y="1776240"/>
            <a:ext cx="4795560" cy="390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483240" y="1776240"/>
            <a:ext cx="4797720" cy="390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1_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05200" y="871560"/>
            <a:ext cx="10993320" cy="49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483920" y="1776240"/>
            <a:ext cx="4795560" cy="390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483240" y="1776240"/>
            <a:ext cx="4797720" cy="390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http://neuralnetworksanddeeplearning.com/chap3.html" TargetMode="External"/><Relationship Id="rId2" Type="http://schemas.openxmlformats.org/officeDocument/2006/relationships/slideLayout" Target="../slideLayouts/slideLayout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slideLayout" Target="../slideLayouts/slideLayout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/>
          </p:nvPr>
        </p:nvSpPr>
        <p:spPr>
          <a:xfrm>
            <a:off x="838080" y="417600"/>
            <a:ext cx="10514880" cy="605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Тема «Линейные модели»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Логистическая регрессия. Метрики качества.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Лекция </a:t>
            </a: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6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А если </a:t>
            </a:r>
            <a:r>
              <a:rPr lang="en-US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Y </a:t>
            </a: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– бинарная переменная?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Picture 3"/>
          <p:cNvPicPr/>
          <p:nvPr/>
        </p:nvPicPr>
        <p:blipFill>
          <a:blip r:embed="rId1"/>
          <a:stretch/>
        </p:blipFill>
        <p:spPr>
          <a:xfrm>
            <a:off x="2959920" y="1882800"/>
            <a:ext cx="6285960" cy="228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4"/>
          <p:cNvPicPr/>
          <p:nvPr/>
        </p:nvPicPr>
        <p:blipFill>
          <a:blip r:embed="rId2"/>
          <a:stretch/>
        </p:blipFill>
        <p:spPr>
          <a:xfrm>
            <a:off x="2245680" y="4435560"/>
            <a:ext cx="7714440" cy="113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Box 5"/>
          <p:cNvSpPr/>
          <p:nvPr/>
        </p:nvSpPr>
        <p:spPr>
          <a:xfrm>
            <a:off x="7796880" y="6243480"/>
            <a:ext cx="24940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*По курсу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Andrew 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Линейная регрессия и бинарный </a:t>
            </a:r>
            <a:r>
              <a:rPr lang="en-US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Box 6"/>
          <p:cNvSpPr/>
          <p:nvPr/>
        </p:nvSpPr>
        <p:spPr>
          <a:xfrm>
            <a:off x="7796880" y="6243480"/>
            <a:ext cx="24940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*По курсу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Andrew 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Picture 2"/>
          <p:cNvPicPr/>
          <p:nvPr/>
        </p:nvPicPr>
        <p:blipFill>
          <a:blip r:embed="rId1"/>
          <a:srcRect l="0" t="0" r="0" b="46838"/>
          <a:stretch/>
        </p:blipFill>
        <p:spPr>
          <a:xfrm>
            <a:off x="1335600" y="1113840"/>
            <a:ext cx="9331200" cy="36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7"/>
          <p:cNvSpPr/>
          <p:nvPr/>
        </p:nvSpPr>
        <p:spPr>
          <a:xfrm>
            <a:off x="1487520" y="4923720"/>
            <a:ext cx="5040000" cy="14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Линейная регрессия + правило: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1. Если прогноз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</a:t>
            </a:r>
            <a:r>
              <a:rPr lang="en-US" sz="1800" b="0" u="none" strike="noStrike" baseline="3000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 ≥ 0.5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то «Спам»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2. Если прогноз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</a:t>
            </a:r>
            <a:r>
              <a:rPr lang="en-US" sz="1800" b="0" u="none" strike="noStrike" baseline="3000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 &lt; 0.5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то «Не спам»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Линейная регрессия</a:t>
            </a:r>
            <a:r>
              <a:rPr lang="en-US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граница смещается от выбросов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Box 6"/>
          <p:cNvSpPr/>
          <p:nvPr/>
        </p:nvSpPr>
        <p:spPr>
          <a:xfrm>
            <a:off x="7796880" y="6243480"/>
            <a:ext cx="24940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*По курсу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Andrew 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Picture 1"/>
          <p:cNvPicPr/>
          <p:nvPr/>
        </p:nvPicPr>
        <p:blipFill>
          <a:blip r:embed="rId1"/>
          <a:srcRect l="0" t="0" r="0" b="42640"/>
          <a:stretch/>
        </p:blipFill>
        <p:spPr>
          <a:xfrm>
            <a:off x="1976400" y="1484640"/>
            <a:ext cx="8690760" cy="393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Линейная регрессия: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ошибки и прогнозы не очень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Box 3"/>
          <p:cNvSpPr/>
          <p:nvPr/>
        </p:nvSpPr>
        <p:spPr>
          <a:xfrm>
            <a:off x="1649160" y="3069000"/>
            <a:ext cx="8907480" cy="15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Ошибки гетероскедастичны, значит интерпретация коэффициентов не работает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Сами предсказания мало что значат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Чего хотелось бы?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Box 6"/>
          <p:cNvSpPr/>
          <p:nvPr/>
        </p:nvSpPr>
        <p:spPr>
          <a:xfrm>
            <a:off x="7796880" y="6243480"/>
            <a:ext cx="24940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*По курсу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Andrew 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Box 3"/>
          <p:cNvSpPr/>
          <p:nvPr/>
        </p:nvSpPr>
        <p:spPr>
          <a:xfrm>
            <a:off x="1271520" y="1484640"/>
            <a:ext cx="10296360" cy="415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h(x) =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оценка вероятности, что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 = 1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Если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 = [ x0 ; x1 ] = [ 1 ;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сколько встретилось слово «купить»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]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то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h(x) = 0.8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Вероятность, что этот имэйл «Спам» = 80%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Рисунок 2"/>
          <p:cNvPicPr/>
          <p:nvPr/>
        </p:nvPicPr>
        <p:blipFill>
          <a:blip r:embed="rId1"/>
          <a:stretch/>
        </p:blipFill>
        <p:spPr>
          <a:xfrm>
            <a:off x="4511880" y="2133000"/>
            <a:ext cx="4133520" cy="316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Shape 1"/>
          <p:cNvSpPr/>
          <p:nvPr/>
        </p:nvSpPr>
        <p:spPr>
          <a:xfrm>
            <a:off x="155160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Вероятность «</a:t>
            </a:r>
            <a:r>
              <a:rPr lang="en-US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Y=1</a:t>
            </a: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»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Кредитный скоринг: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поиск порога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Box 5"/>
          <p:cNvSpPr/>
          <p:nvPr/>
        </p:nvSpPr>
        <p:spPr>
          <a:xfrm>
            <a:off x="6252840" y="6243480"/>
            <a:ext cx="584604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*По книге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Phillips, R. L. (2018).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Pricing Credit Products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Рисунок 6"/>
          <p:cNvPicPr/>
          <p:nvPr/>
        </p:nvPicPr>
        <p:blipFill>
          <a:blip r:embed="rId1"/>
          <a:stretch/>
        </p:blipFill>
        <p:spPr>
          <a:xfrm>
            <a:off x="420120" y="1666440"/>
            <a:ext cx="4788360" cy="370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Рисунок 7"/>
          <p:cNvPicPr/>
          <p:nvPr/>
        </p:nvPicPr>
        <p:blipFill>
          <a:blip r:embed="rId2"/>
          <a:stretch/>
        </p:blipFill>
        <p:spPr>
          <a:xfrm>
            <a:off x="5375520" y="1444320"/>
            <a:ext cx="6557040" cy="4429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utoShape 2" descr="$P(X)$"/>
          <p:cNvSpPr/>
          <p:nvPr/>
        </p:nvSpPr>
        <p:spPr>
          <a:xfrm>
            <a:off x="2259000" y="-10033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5" name="AutoShape 3" descr="$X$"/>
          <p:cNvSpPr/>
          <p:nvPr/>
        </p:nvSpPr>
        <p:spPr>
          <a:xfrm>
            <a:off x="4735440" y="-10033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6" name="AutoShape 4" descr="$OR(X)$"/>
          <p:cNvSpPr/>
          <p:nvPr/>
        </p:nvSpPr>
        <p:spPr>
          <a:xfrm>
            <a:off x="6808680" y="-10033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7" name="AutoShape 5" descr="$\frac{P(X)}{1-P(X)}$"/>
          <p:cNvSpPr/>
          <p:nvPr/>
        </p:nvSpPr>
        <p:spPr>
          <a:xfrm>
            <a:off x="7970760" y="-10033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8" name="AutoShape 6" descr="$P(X)$"/>
          <p:cNvSpPr/>
          <p:nvPr/>
        </p:nvSpPr>
        <p:spPr>
          <a:xfrm>
            <a:off x="1774800" y="-71424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9" name="AutoShape 7" descr="$OR(X)$"/>
          <p:cNvSpPr/>
          <p:nvPr/>
        </p:nvSpPr>
        <p:spPr>
          <a:xfrm>
            <a:off x="3841920" y="-71424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0" name="AutoShape 8" descr="$\infty$"/>
          <p:cNvSpPr/>
          <p:nvPr/>
        </p:nvSpPr>
        <p:spPr>
          <a:xfrm>
            <a:off x="5769000" y="-71424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1" name="AutoShape 9" descr="$OR(X)$"/>
          <p:cNvSpPr/>
          <p:nvPr/>
        </p:nvSpPr>
        <p:spPr>
          <a:xfrm>
            <a:off x="3184560" y="-4255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2" name="AutoShape 10" descr="$\log{OR(X)} \in \mathbb{R}$"/>
          <p:cNvSpPr/>
          <p:nvPr/>
        </p:nvSpPr>
        <p:spPr>
          <a:xfrm>
            <a:off x="9528120" y="-42552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3" name="AutoShape 11" descr="$p_+ = \text{P}\left(y_i = 1 \mid \textbf{x}_\text{i}, \textbf{w}\right)$"/>
          <p:cNvSpPr/>
          <p:nvPr/>
        </p:nvSpPr>
        <p:spPr>
          <a:xfrm>
            <a:off x="5337000" y="-13644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4" name="AutoShape 12" descr="$\textbf{w}$"/>
          <p:cNvSpPr/>
          <p:nvPr/>
        </p:nvSpPr>
        <p:spPr>
          <a:xfrm>
            <a:off x="6908760" y="-13644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5" name="AutoShape 13" descr="$w_{0}+w_{1}x_1 + w_{2}x_2 + ... = \textbf{w}^\text{T}\textbf{x}$"/>
          <p:cNvSpPr/>
          <p:nvPr/>
        </p:nvSpPr>
        <p:spPr>
          <a:xfrm>
            <a:off x="3247920" y="15228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6" name="AutoShape 14" descr="$\textbf{w}^\text{T}\textbf{x} = 0$"/>
          <p:cNvSpPr/>
          <p:nvPr/>
        </p:nvSpPr>
        <p:spPr>
          <a:xfrm>
            <a:off x="4398840" y="15228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7" name="AutoShape 15" descr="$ \log(OR_{+}) =  \textbf{w}^\text{T}\textbf{x}$"/>
          <p:cNvSpPr/>
          <p:nvPr/>
        </p:nvSpPr>
        <p:spPr>
          <a:xfrm>
            <a:off x="4492800" y="44136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8" name="AutoShape 16" descr="$OR_{+}$"/>
          <p:cNvSpPr/>
          <p:nvPr/>
        </p:nvSpPr>
        <p:spPr>
          <a:xfrm>
            <a:off x="4941720" y="73008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9" name="AutoShape 17" descr="$p_{+}$"/>
          <p:cNvSpPr/>
          <p:nvPr/>
        </p:nvSpPr>
        <p:spPr>
          <a:xfrm>
            <a:off x="6060960" y="73008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60" name="AutoShape 18" descr="$$\Large p_{+} = \frac{OR_{+}}{1 + OR_{+}} = \frac{\exp^{\textbf{w}^\text{T}\textbf{x}}}{1 + \exp^{\textbf{w}^\text{T}\textbf{x}}} =  \frac{1}{1 + \exp^{-\textbf{w}^\text{T}\textbf{x}}} = \sigma(\textbf{w}^\text{T}\textbf{x})$$"/>
          <p:cNvSpPr/>
          <p:nvPr/>
        </p:nvSpPr>
        <p:spPr>
          <a:xfrm>
            <a:off x="1558800" y="1019160"/>
            <a:ext cx="30420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61" name="Рисунок 20"/>
          <p:cNvPicPr/>
          <p:nvPr/>
        </p:nvPicPr>
        <p:blipFill>
          <a:blip r:embed="rId1"/>
          <a:stretch/>
        </p:blipFill>
        <p:spPr>
          <a:xfrm>
            <a:off x="369360" y="2208240"/>
            <a:ext cx="11593800" cy="219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log(OR)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Зачем логарифм?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7796880" y="6243480"/>
            <a:ext cx="391500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*По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https://youtu.be/ARfXDSkQf1Y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1"/>
          <p:cNvPicPr/>
          <p:nvPr/>
        </p:nvPicPr>
        <p:blipFill>
          <a:blip r:embed="rId1"/>
          <a:stretch/>
        </p:blipFill>
        <p:spPr>
          <a:xfrm>
            <a:off x="2855520" y="1268640"/>
            <a:ext cx="6827760" cy="219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Picture 2"/>
          <p:cNvPicPr/>
          <p:nvPr/>
        </p:nvPicPr>
        <p:blipFill>
          <a:blip r:embed="rId2"/>
          <a:stretch/>
        </p:blipFill>
        <p:spPr>
          <a:xfrm>
            <a:off x="2855520" y="3497400"/>
            <a:ext cx="6827760" cy="2478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Shape 1"/>
          <p:cNvSpPr/>
          <p:nvPr/>
        </p:nvSpPr>
        <p:spPr>
          <a:xfrm>
            <a:off x="1538640" y="0"/>
            <a:ext cx="9405720" cy="10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Вероятность, отношение вероятностей,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логарифм отношения вероятностей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6" descr="P(y=j|\mathbf{x}) = \frac{e^{\mathbf{x}^\mathsf{T}\mathbf{w}_j}}{\sum_{k=1}^K e^{\mathbf{x}^\mathsf{T}\mathbf{w}_k}}"/>
          <p:cNvPicPr/>
          <p:nvPr/>
        </p:nvPicPr>
        <p:blipFill>
          <a:blip r:embed="rId1"/>
          <a:stretch/>
        </p:blipFill>
        <p:spPr>
          <a:xfrm>
            <a:off x="3624840" y="11881440"/>
            <a:ext cx="2085120" cy="54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Picture 7"/>
          <p:cNvPicPr/>
          <p:nvPr/>
        </p:nvPicPr>
        <p:blipFill>
          <a:blip r:embed="rId2"/>
          <a:stretch/>
        </p:blipFill>
        <p:spPr>
          <a:xfrm>
            <a:off x="191520" y="1268640"/>
            <a:ext cx="6438240" cy="453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Picture 8"/>
          <p:cNvPicPr/>
          <p:nvPr/>
        </p:nvPicPr>
        <p:blipFill>
          <a:blip r:embed="rId3"/>
          <a:stretch/>
        </p:blipFill>
        <p:spPr>
          <a:xfrm>
            <a:off x="7320240" y="900720"/>
            <a:ext cx="3632760" cy="274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Picture 9"/>
          <p:cNvPicPr/>
          <p:nvPr/>
        </p:nvPicPr>
        <p:blipFill>
          <a:blip r:embed="rId4"/>
          <a:stretch/>
        </p:blipFill>
        <p:spPr>
          <a:xfrm>
            <a:off x="7320240" y="3655440"/>
            <a:ext cx="3537360" cy="273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Shape 1"/>
          <p:cNvSpPr/>
          <p:nvPr/>
        </p:nvSpPr>
        <p:spPr>
          <a:xfrm>
            <a:off x="1538640" y="116640"/>
            <a:ext cx="951048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FICO score </a:t>
            </a: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основан</a:t>
            </a:r>
            <a:r>
              <a:rPr lang="en-US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 log(OddsRatio)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6252840" y="6243480"/>
            <a:ext cx="584604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*По книге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Phillips, R. L. (2018).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Pricing Credit Products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Рисунок 8"/>
          <p:cNvPicPr/>
          <p:nvPr/>
        </p:nvPicPr>
        <p:blipFill>
          <a:blip r:embed="rId1"/>
          <a:stretch/>
        </p:blipFill>
        <p:spPr>
          <a:xfrm>
            <a:off x="399600" y="1339920"/>
            <a:ext cx="4317120" cy="112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Рисунок 9"/>
          <p:cNvPicPr/>
          <p:nvPr/>
        </p:nvPicPr>
        <p:blipFill>
          <a:blip r:embed="rId2"/>
          <a:stretch/>
        </p:blipFill>
        <p:spPr>
          <a:xfrm>
            <a:off x="5022000" y="1396080"/>
            <a:ext cx="5730840" cy="221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Рисунок 10"/>
          <p:cNvPicPr/>
          <p:nvPr/>
        </p:nvPicPr>
        <p:blipFill>
          <a:blip r:embed="rId3"/>
          <a:stretch/>
        </p:blipFill>
        <p:spPr>
          <a:xfrm>
            <a:off x="6252840" y="3788280"/>
            <a:ext cx="4209480" cy="193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Рисунок 11"/>
          <p:cNvPicPr/>
          <p:nvPr/>
        </p:nvPicPr>
        <p:blipFill>
          <a:blip r:embed="rId4"/>
          <a:stretch/>
        </p:blipFill>
        <p:spPr>
          <a:xfrm>
            <a:off x="399600" y="2760120"/>
            <a:ext cx="4361760" cy="3809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Рисунок 1"/>
          <p:cNvPicPr/>
          <p:nvPr/>
        </p:nvPicPr>
        <p:blipFill>
          <a:blip r:embed="rId1"/>
          <a:stretch/>
        </p:blipFill>
        <p:spPr>
          <a:xfrm>
            <a:off x="1444320" y="1496160"/>
            <a:ext cx="9922680" cy="43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Появление сигмоиды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Сигмоида / логистическая функция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1"/>
          <p:cNvPicPr/>
          <p:nvPr/>
        </p:nvPicPr>
        <p:blipFill>
          <a:blip r:embed="rId1"/>
          <a:srcRect l="0" t="0" r="12844" b="37391"/>
          <a:stretch/>
        </p:blipFill>
        <p:spPr>
          <a:xfrm>
            <a:off x="58320" y="1484640"/>
            <a:ext cx="7431840" cy="429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Rectangle 9"/>
          <p:cNvSpPr/>
          <p:nvPr/>
        </p:nvSpPr>
        <p:spPr>
          <a:xfrm>
            <a:off x="7464240" y="2637000"/>
            <a:ext cx="4727160" cy="14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Логистическая регрессия + правило: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1. Если прогноз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</a:t>
            </a:r>
            <a:r>
              <a:rPr lang="en-US" sz="1800" b="0" u="none" strike="noStrike" baseline="3000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 ≥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порог, то «Спам»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2. Если прогноз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w</a:t>
            </a:r>
            <a:r>
              <a:rPr lang="en-US" sz="1800" b="0" u="none" strike="noStrike" baseline="3000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 &lt;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порог, то «Не спам»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Shape 1"/>
          <p:cNvSpPr/>
          <p:nvPr/>
        </p:nvSpPr>
        <p:spPr>
          <a:xfrm>
            <a:off x="263520" y="0"/>
            <a:ext cx="1137672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Свойства вероятности события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для логистической регрессии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Рисунок 2"/>
          <p:cNvPicPr/>
          <p:nvPr/>
        </p:nvPicPr>
        <p:blipFill>
          <a:blip r:embed="rId1"/>
          <a:stretch/>
        </p:blipFill>
        <p:spPr>
          <a:xfrm>
            <a:off x="2511000" y="1396080"/>
            <a:ext cx="7209720" cy="48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5"/>
          <p:cNvSpPr/>
          <p:nvPr/>
        </p:nvSpPr>
        <p:spPr>
          <a:xfrm>
            <a:off x="7802280" y="6263640"/>
            <a:ext cx="29386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*По описанию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scikit-learn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Линейная и нелинейная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граница решения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7796880" y="6243480"/>
            <a:ext cx="24940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*По курсу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Andrew 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Picture 6"/>
          <p:cNvPicPr/>
          <p:nvPr/>
        </p:nvPicPr>
        <p:blipFill>
          <a:blip r:embed="rId1"/>
          <a:srcRect l="0" t="0" r="3608" b="41602"/>
          <a:stretch/>
        </p:blipFill>
        <p:spPr>
          <a:xfrm>
            <a:off x="191520" y="2133000"/>
            <a:ext cx="5544000" cy="274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Picture 7"/>
          <p:cNvPicPr/>
          <p:nvPr/>
        </p:nvPicPr>
        <p:blipFill>
          <a:blip r:embed="rId2"/>
          <a:srcRect l="0" t="0" r="2772" b="45791"/>
          <a:stretch/>
        </p:blipFill>
        <p:spPr>
          <a:xfrm>
            <a:off x="5663880" y="2133000"/>
            <a:ext cx="6347160" cy="274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1"/>
          <p:cNvPicPr/>
          <p:nvPr/>
        </p:nvPicPr>
        <p:blipFill>
          <a:blip r:embed="rId1"/>
          <a:stretch/>
        </p:blipFill>
        <p:spPr>
          <a:xfrm>
            <a:off x="2756160" y="649440"/>
            <a:ext cx="6990480" cy="592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Shape 1"/>
          <p:cNvSpPr/>
          <p:nvPr/>
        </p:nvSpPr>
        <p:spPr>
          <a:xfrm>
            <a:off x="6251760" y="0"/>
            <a:ext cx="5826600" cy="132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Нелинейная граница решения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9307440" y="6309360"/>
            <a:ext cx="29386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*По описанию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scikit-learn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Логистическая регрессия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Поиск параметров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7796880" y="6243480"/>
            <a:ext cx="24940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*По курсу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Andrew 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6"/>
          <p:cNvSpPr/>
          <p:nvPr/>
        </p:nvSpPr>
        <p:spPr>
          <a:xfrm>
            <a:off x="2639520" y="1760400"/>
            <a:ext cx="6624000" cy="44035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Минимизация логистической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функции потерь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6"/>
          <p:cNvSpPr/>
          <p:nvPr/>
        </p:nvSpPr>
        <p:spPr>
          <a:xfrm>
            <a:off x="7796880" y="6243480"/>
            <a:ext cx="24940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*По курсу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Andrew 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6"/>
          <p:cNvSpPr/>
          <p:nvPr/>
        </p:nvSpPr>
        <p:spPr>
          <a:xfrm>
            <a:off x="2567520" y="1628640"/>
            <a:ext cx="8099280" cy="45270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Потери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7796880" y="6243480"/>
            <a:ext cx="24940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*По курсу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Andrew 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Picture 1"/>
          <p:cNvPicPr/>
          <p:nvPr/>
        </p:nvPicPr>
        <p:blipFill>
          <a:blip r:embed="rId1"/>
          <a:srcRect l="5394" t="0" r="0" b="41590"/>
          <a:stretch/>
        </p:blipFill>
        <p:spPr>
          <a:xfrm>
            <a:off x="191520" y="1700640"/>
            <a:ext cx="5820480" cy="287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2"/>
          <p:cNvPicPr/>
          <p:nvPr/>
        </p:nvPicPr>
        <p:blipFill>
          <a:blip r:embed="rId2"/>
          <a:srcRect l="5394" t="0" r="0" b="42641"/>
          <a:stretch/>
        </p:blipFill>
        <p:spPr>
          <a:xfrm>
            <a:off x="6133320" y="1700640"/>
            <a:ext cx="5927040" cy="287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"/>
          <p:cNvPicPr/>
          <p:nvPr/>
        </p:nvPicPr>
        <p:blipFill>
          <a:blip r:embed="rId1"/>
          <a:stretch/>
        </p:blipFill>
        <p:spPr>
          <a:xfrm>
            <a:off x="0" y="298080"/>
            <a:ext cx="7457400" cy="58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Rectangle 2"/>
          <p:cNvSpPr/>
          <p:nvPr/>
        </p:nvSpPr>
        <p:spPr>
          <a:xfrm>
            <a:off x="7102080" y="3858480"/>
            <a:ext cx="4727160" cy="14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Пример: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Вероятность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p(y</a:t>
            </a:r>
            <a:r>
              <a:rPr lang="en-US" sz="1800" b="0" i="1" u="none" strike="noStrike" baseline="3000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=0 </a:t>
            </a:r>
            <a:r>
              <a:rPr lang="ru-RU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и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</a:t>
            </a:r>
            <a:r>
              <a:rPr lang="en-US" sz="1800" b="0" i="1" u="none" strike="noStrike" baseline="3000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=1 </a:t>
            </a:r>
            <a:r>
              <a:rPr lang="ru-RU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и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… y</a:t>
            </a:r>
            <a:r>
              <a:rPr lang="en-US" sz="1800" b="0" i="1" u="none" strike="noStrike" baseline="3000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=0) =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= p(y</a:t>
            </a:r>
            <a:r>
              <a:rPr lang="en-US" sz="1800" b="0" i="1" u="none" strike="noStrike" baseline="3000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=0) * p(y</a:t>
            </a:r>
            <a:r>
              <a:rPr lang="en-US" sz="1800" b="0" i="1" u="none" strike="noStrike" baseline="3000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=1) * … * p(y</a:t>
            </a:r>
            <a:r>
              <a:rPr lang="en-US" sz="1800" b="0" i="1" u="none" strike="noStrike" baseline="3000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=0)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Shape 1"/>
          <p:cNvSpPr/>
          <p:nvPr/>
        </p:nvSpPr>
        <p:spPr>
          <a:xfrm>
            <a:off x="4367880" y="428760"/>
            <a:ext cx="759528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Метод Максимального Правдоподобия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5"/>
          <p:cNvSpPr/>
          <p:nvPr/>
        </p:nvSpPr>
        <p:spPr>
          <a:xfrm>
            <a:off x="6649560" y="1270800"/>
            <a:ext cx="4823640" cy="22888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  <a:ea typeface="Arial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Градиентный спуск</a:t>
            </a:r>
            <a:r>
              <a:rPr lang="en-US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и скорость обучения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7"/>
          <p:cNvSpPr/>
          <p:nvPr/>
        </p:nvSpPr>
        <p:spPr>
          <a:xfrm>
            <a:off x="8274240" y="6309360"/>
            <a:ext cx="38876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clip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https://www.kaggle.com/ivankomarov/lecture3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Picture 1"/>
          <p:cNvPicPr/>
          <p:nvPr/>
        </p:nvPicPr>
        <p:blipFill>
          <a:blip r:embed="rId1"/>
          <a:stretch/>
        </p:blipFill>
        <p:spPr>
          <a:xfrm>
            <a:off x="335520" y="1196640"/>
            <a:ext cx="3674160" cy="388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2"/>
          <p:cNvPicPr/>
          <p:nvPr/>
        </p:nvPicPr>
        <p:blipFill>
          <a:blip r:embed="rId2"/>
          <a:stretch/>
        </p:blipFill>
        <p:spPr>
          <a:xfrm>
            <a:off x="4519080" y="1196640"/>
            <a:ext cx="3168000" cy="433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Picture 8"/>
          <p:cNvPicPr/>
          <p:nvPr/>
        </p:nvPicPr>
        <p:blipFill>
          <a:blip r:embed="rId3"/>
          <a:stretch/>
        </p:blipFill>
        <p:spPr>
          <a:xfrm>
            <a:off x="8308440" y="1196640"/>
            <a:ext cx="3231360" cy="433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Picture 5"/>
          <p:cNvPicPr/>
          <p:nvPr/>
        </p:nvPicPr>
        <p:blipFill>
          <a:blip r:embed="rId4"/>
          <a:stretch/>
        </p:blipFill>
        <p:spPr>
          <a:xfrm>
            <a:off x="316800" y="2205000"/>
            <a:ext cx="4182840" cy="359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Линейная регрессия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Градиентный спуск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Picture 1"/>
          <p:cNvPicPr/>
          <p:nvPr/>
        </p:nvPicPr>
        <p:blipFill>
          <a:blip r:embed="rId1"/>
          <a:stretch/>
        </p:blipFill>
        <p:spPr>
          <a:xfrm>
            <a:off x="213120" y="1054080"/>
            <a:ext cx="5330880" cy="297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Picture 3"/>
          <p:cNvPicPr/>
          <p:nvPr/>
        </p:nvPicPr>
        <p:blipFill>
          <a:blip r:embed="rId2"/>
          <a:stretch/>
        </p:blipFill>
        <p:spPr>
          <a:xfrm>
            <a:off x="213120" y="3602880"/>
            <a:ext cx="5330880" cy="300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Picture 4"/>
          <p:cNvPicPr/>
          <p:nvPr/>
        </p:nvPicPr>
        <p:blipFill>
          <a:blip r:embed="rId3"/>
          <a:stretch/>
        </p:blipFill>
        <p:spPr>
          <a:xfrm>
            <a:off x="5953680" y="1054080"/>
            <a:ext cx="5528160" cy="3117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Picture 8"/>
          <p:cNvPicPr/>
          <p:nvPr/>
        </p:nvPicPr>
        <p:blipFill>
          <a:blip r:embed="rId4"/>
          <a:stretch/>
        </p:blipFill>
        <p:spPr>
          <a:xfrm>
            <a:off x="5906520" y="3526200"/>
            <a:ext cx="5622120" cy="31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Box 6"/>
          <p:cNvSpPr/>
          <p:nvPr/>
        </p:nvSpPr>
        <p:spPr>
          <a:xfrm>
            <a:off x="7796880" y="6243480"/>
            <a:ext cx="24940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*По курсу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Andrew 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Линейная регрессия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Градиентный спуск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5"/>
          <p:cNvPicPr/>
          <p:nvPr/>
        </p:nvPicPr>
        <p:blipFill>
          <a:blip r:embed="rId1"/>
          <a:stretch/>
        </p:blipFill>
        <p:spPr>
          <a:xfrm>
            <a:off x="0" y="1059480"/>
            <a:ext cx="5401800" cy="303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7"/>
          <p:cNvPicPr/>
          <p:nvPr/>
        </p:nvPicPr>
        <p:blipFill>
          <a:blip r:embed="rId2"/>
          <a:stretch/>
        </p:blipFill>
        <p:spPr>
          <a:xfrm>
            <a:off x="0" y="3618000"/>
            <a:ext cx="5436720" cy="306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Picture 9"/>
          <p:cNvPicPr/>
          <p:nvPr/>
        </p:nvPicPr>
        <p:blipFill>
          <a:blip r:embed="rId3"/>
          <a:stretch/>
        </p:blipFill>
        <p:spPr>
          <a:xfrm>
            <a:off x="5815440" y="1059480"/>
            <a:ext cx="5384160" cy="303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Picture 10"/>
          <p:cNvPicPr/>
          <p:nvPr/>
        </p:nvPicPr>
        <p:blipFill>
          <a:blip r:embed="rId4"/>
          <a:stretch/>
        </p:blipFill>
        <p:spPr>
          <a:xfrm>
            <a:off x="5815440" y="3572640"/>
            <a:ext cx="5512320" cy="310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Box 6"/>
          <p:cNvSpPr/>
          <p:nvPr/>
        </p:nvSpPr>
        <p:spPr>
          <a:xfrm>
            <a:off x="7796880" y="6243480"/>
            <a:ext cx="249408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*По курсу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Andrew 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7"/>
          <p:cNvSpPr/>
          <p:nvPr/>
        </p:nvSpPr>
        <p:spPr>
          <a:xfrm>
            <a:off x="3411720" y="1436400"/>
            <a:ext cx="3475800" cy="92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a.k.a.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logloss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cross-entropy loss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Метрики качества: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значение функции потерь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10"/>
          <p:cNvSpPr/>
          <p:nvPr/>
        </p:nvSpPr>
        <p:spPr>
          <a:xfrm>
            <a:off x="3055320" y="2628720"/>
            <a:ext cx="6095160" cy="17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Сильно наказывает за неправильные ответы.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arenR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Позволяет быстро учиться на ошибках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(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не в пример среднеквадратичной ошибке в регрессии).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1"/>
              </a:rPr>
              <a:t>http://neuralnetworksanddeeplearning.com/chap3.html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Метрики качества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Матрица ошибок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Box 3"/>
          <p:cNvSpPr/>
          <p:nvPr/>
        </p:nvSpPr>
        <p:spPr>
          <a:xfrm>
            <a:off x="5565960" y="2302920"/>
            <a:ext cx="5932800" cy="30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По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scikit-learn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(следите за осями)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2 типа ошибок: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ложно положительные (предсказываем «событие», но оно не происходит) и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ложно отрицательные (предсказываем, что «события» не будет, оно происходит).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0" name="Table 3"/>
          <p:cNvGraphicFramePr/>
          <p:nvPr/>
        </p:nvGraphicFramePr>
        <p:xfrm>
          <a:off x="546480" y="1685880"/>
          <a:ext cx="4809600" cy="4127760"/>
        </p:xfrm>
        <a:graphic>
          <a:graphicData uri="http://schemas.openxmlformats.org/drawingml/2006/table">
            <a:tbl>
              <a:tblPr/>
              <a:tblGrid>
                <a:gridCol w="610200"/>
                <a:gridCol w="1412280"/>
                <a:gridCol w="1445400"/>
                <a:gridCol w="1342080"/>
              </a:tblGrid>
              <a:tr h="730080">
                <a:tc>
                  <a:txBody>
                    <a:bodyPr lIns="81360" rIns="81360" tIns="41400" bIns="41400" anchor="ctr">
                      <a:noAutofit/>
                    </a:bodyPr>
                    <a:p>
                      <a:endParaRPr lang="en-US" sz="16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Arial"/>
                      </a:endParaRPr>
                    </a:p>
                  </a:txBody>
                  <a:tcPr anchor="ctr" marL="81360" marR="81360" marT="41400" marB="4140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81360" rIns="81360" tIns="41400" bIns="41400" anchor="ctr">
                      <a:noAutofit/>
                    </a:bodyPr>
                    <a:p>
                      <a:endParaRPr lang="en-US" sz="16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  <a:ea typeface="Arial"/>
                      </a:endParaRPr>
                    </a:p>
                  </a:txBody>
                  <a:tcPr anchor="ctr" marL="81360" marR="81360" marT="41400" marB="41400">
                    <a:lnL w="9360">
                      <a:noFill/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9360">
                      <a:noFill/>
                      <a:prstDash val="solid"/>
                    </a:lnT>
                    <a:lnB w="9360">
                      <a:noFill/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 lIns="81360" rIns="81360" tIns="41400" bIns="414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-RU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Модель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360" marR="81360" marT="41400" marB="41400">
                    <a:lnL w="1224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046880">
                <a:tc>
                  <a:txBody>
                    <a:bodyPr lIns="81360" rIns="81360" tIns="41400" bIns="41400" anchor="ctr">
                      <a:noAutofit/>
                    </a:bodyPr>
                    <a:p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  <a:ea typeface="Arial"/>
                      </a:endParaRPr>
                    </a:p>
                  </a:txBody>
                  <a:tcPr anchor="ctr" marL="81360" marR="81360" marT="41400" marB="41400">
                    <a:lnL w="9360">
                      <a:noFill/>
                      <a:prstDash val="solid"/>
                    </a:lnL>
                    <a:lnR w="9360">
                      <a:noFill/>
                      <a:prstDash val="solid"/>
                    </a:lnR>
                    <a:lnT w="9360">
                      <a:noFill/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81360" rIns="81360" tIns="41400" bIns="41400" anchor="ctr">
                      <a:noAutofit/>
                    </a:bodyPr>
                    <a:p>
                      <a:endParaRPr lang="ru-RU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  <a:ea typeface="Arial"/>
                      </a:endParaRPr>
                    </a:p>
                  </a:txBody>
                  <a:tcPr anchor="ctr" marL="81360" marR="81360" marT="41400" marB="41400">
                    <a:lnL w="9360">
                      <a:noFill/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9360">
                      <a:noFill/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81360" rIns="81360" tIns="41400" bIns="414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Положительно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360" marR="81360" marT="41400" marB="414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 lIns="81360" rIns="81360" tIns="41400" bIns="414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Отрицательно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360" marR="81360" marT="41400" marB="414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0d0d0"/>
                    </a:solidFill>
                  </a:tcPr>
                </a:tc>
              </a:tr>
              <a:tr h="1175400">
                <a:tc rowSpan="2">
                  <a:txBody>
                    <a:bodyPr lIns="81360" rIns="81360" tIns="41400" bIns="414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Реальность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vert="vert270" marL="81360" marR="81360" marT="41400" marB="414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81360" rIns="81360" tIns="41400" bIns="414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Положительно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360" marR="81360" marT="41400" marB="414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 lIns="81360" rIns="81360" tIns="41400" bIns="414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5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Истинно </a:t>
                      </a:r>
                      <a:r>
                        <a:rPr lang="ru-RU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положительные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360" marR="81360" marT="41400" marB="414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 lIns="81360" rIns="81360" tIns="41400" bIns="414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Ложно</a:t>
                      </a:r>
                      <a:br>
                        <a:rPr sz="1600"/>
                      </a:br>
                      <a:r>
                        <a:rPr lang="ru-RU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отрицательные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360" marR="81360" marT="41400" marB="414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d0d0"/>
                    </a:solidFill>
                  </a:tcPr>
                </a:tc>
              </a:tr>
              <a:tr h="117540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81360" rIns="81360" tIns="41400" bIns="414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Отрицательно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360" marR="81360" marT="41400" marB="414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 lIns="81360" rIns="81360" tIns="41400" bIns="414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3</a:t>
                      </a:r>
                      <a:r>
                        <a:rPr lang="ru-RU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 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Ложно</a:t>
                      </a:r>
                      <a:br>
                        <a:rPr sz="1600"/>
                      </a:br>
                      <a:r>
                        <a:rPr lang="ru-RU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положительные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360" marR="81360" marT="41400" marB="414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 lIns="81360" rIns="81360" tIns="41400" bIns="414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17 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6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Истинно </a:t>
                      </a:r>
                      <a:r>
                        <a:rPr lang="ru-RU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отрицательные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1360" marR="81360" marT="41400" marB="414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d0d0d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Метрики качества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Ошибки 1,2(,3) рода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Box 3"/>
          <p:cNvSpPr/>
          <p:nvPr/>
        </p:nvSpPr>
        <p:spPr>
          <a:xfrm>
            <a:off x="705240" y="1715040"/>
            <a:ext cx="10795320" cy="39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Есть инструментарий при оценке гипотез: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Ошибка первого рода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— это вероятность того, что нулевая гипотеза (коэффициент равен нулю) отвергнута (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p-value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&lt;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0.05)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неверно.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br>
              <a:rPr sz="2400"/>
            </a:b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Ошибка второго рода 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— это вероятность того, что нулевая гипотеза (коэффициент равен нулю) принята (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p-value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&gt;=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 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0.05) </a:t>
            </a: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неверно.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Type I error is like convicting an innocent person and Type II error is like failing to convict a guilty person.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«Ошибка третьего рода» 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—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 It’s kind of a statistics joke: it refers to correctly rejecting the wrong null hypothesis. In other words, using all the right math to answer the wrong question. (Cassie Kozyrkov)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Метрики качества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Точность и полнота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Box 3"/>
          <p:cNvSpPr/>
          <p:nvPr/>
        </p:nvSpPr>
        <p:spPr>
          <a:xfrm>
            <a:off x="705240" y="1193400"/>
            <a:ext cx="572472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800" b="0" u="sng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Точность: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---------------------------------------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(TP + FP) = all model positives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Box 3"/>
          <p:cNvSpPr/>
          <p:nvPr/>
        </p:nvSpPr>
        <p:spPr>
          <a:xfrm>
            <a:off x="705240" y="3726000"/>
            <a:ext cx="572472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800" b="0" u="sng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Полнота: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-----------------------------------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(TP + FN) = all real positives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Picture 2"/>
          <p:cNvPicPr/>
          <p:nvPr/>
        </p:nvPicPr>
        <p:blipFill>
          <a:blip r:embed="rId1"/>
          <a:stretch/>
        </p:blipFill>
        <p:spPr>
          <a:xfrm>
            <a:off x="7152840" y="1838880"/>
            <a:ext cx="4584600" cy="3438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Метрики качества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F1 </a:t>
            </a: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мера, полная точность</a:t>
            </a:r>
            <a:r>
              <a:rPr lang="en-US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(accuracy</a:t>
            </a: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Box 3"/>
          <p:cNvSpPr/>
          <p:nvPr/>
        </p:nvSpPr>
        <p:spPr>
          <a:xfrm>
            <a:off x="705240" y="1610640"/>
            <a:ext cx="1079532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sng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F1 (</a:t>
            </a:r>
            <a:r>
              <a:rPr lang="ru-RU" sz="1800" b="0" u="sng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гармоническое среднее, среднее отношений):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precision * recall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2 * -----------------------------------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precision + recall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Box 3"/>
          <p:cNvSpPr/>
          <p:nvPr/>
        </p:nvSpPr>
        <p:spPr>
          <a:xfrm>
            <a:off x="705240" y="4143240"/>
            <a:ext cx="10795320" cy="18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800" b="0" u="sng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Доля правильных ответов </a:t>
            </a:r>
            <a:r>
              <a:rPr lang="en-US" sz="1800" b="0" u="sng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(accuracy)</a:t>
            </a:r>
            <a:r>
              <a:rPr lang="ru-RU" sz="1800" b="0" u="sng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(TP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 +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TN) = true hits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----------------------------------------------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(TP + TN + FP + FN) = all predictions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Метрики качества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Отсечение и </a:t>
            </a:r>
            <a:r>
              <a:rPr lang="en-US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ROC AUC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2"/>
          <p:cNvSpPr/>
          <p:nvPr/>
        </p:nvSpPr>
        <p:spPr>
          <a:xfrm>
            <a:off x="129240" y="6167160"/>
            <a:ext cx="4905720" cy="41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By Sharpr - Own work, CC BY-SA 3.0, https://commons.wikimedia.org/w/index.php?curid=44059691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6"/>
          <p:cNvSpPr/>
          <p:nvPr/>
        </p:nvSpPr>
        <p:spPr>
          <a:xfrm>
            <a:off x="7574040" y="6167160"/>
            <a:ext cx="386496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By BOR at the English language Wikipedia, CC BY-SA 3.0, https://commons.wikimedia.org/w/index.php?curid=10714489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" name="Picture 9"/>
          <p:cNvPicPr/>
          <p:nvPr/>
        </p:nvPicPr>
        <p:blipFill>
          <a:blip r:embed="rId1"/>
          <a:stretch/>
        </p:blipFill>
        <p:spPr>
          <a:xfrm>
            <a:off x="129240" y="1261440"/>
            <a:ext cx="6161040" cy="461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2" descr="https://upload.wikimedia.org/wikipedia/commons/6/6b/Roccurves.png"/>
          <p:cNvPicPr/>
          <p:nvPr/>
        </p:nvPicPr>
        <p:blipFill>
          <a:blip r:embed="rId2"/>
          <a:stretch/>
        </p:blipFill>
        <p:spPr>
          <a:xfrm>
            <a:off x="6677280" y="1419840"/>
            <a:ext cx="4761720" cy="461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Picture 1"/>
          <p:cNvPicPr/>
          <p:nvPr/>
        </p:nvPicPr>
        <p:blipFill>
          <a:blip r:embed="rId3"/>
          <a:stretch/>
        </p:blipFill>
        <p:spPr>
          <a:xfrm>
            <a:off x="9507240" y="3357000"/>
            <a:ext cx="1932120" cy="147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Shape 1"/>
          <p:cNvSpPr/>
          <p:nvPr/>
        </p:nvSpPr>
        <p:spPr>
          <a:xfrm>
            <a:off x="1538640" y="0"/>
            <a:ext cx="91281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Метрики качества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Gini</a:t>
            </a:r>
            <a:r>
              <a:rPr lang="ru-RU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 и </a:t>
            </a:r>
            <a:r>
              <a:rPr lang="en-US" sz="2800" b="1" u="none" strike="noStrike">
                <a:solidFill>
                  <a:srgbClr val="006600"/>
                </a:solidFill>
                <a:effectLst/>
                <a:uFillTx/>
                <a:latin typeface="Arial"/>
                <a:ea typeface="Arial"/>
              </a:rPr>
              <a:t>ROC AUC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9"/>
          <p:cNvSpPr/>
          <p:nvPr/>
        </p:nvSpPr>
        <p:spPr>
          <a:xfrm>
            <a:off x="4295880" y="1845000"/>
            <a:ext cx="32479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Gini = 2*AUC – 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10"/>
          <p:cNvSpPr/>
          <p:nvPr/>
        </p:nvSpPr>
        <p:spPr>
          <a:xfrm>
            <a:off x="3143520" y="2853000"/>
            <a:ext cx="6095160" cy="20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Gini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 находится в пределах от 0 до 1, в отличие от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AUC ROC</a:t>
            </a: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, который находится в пределах от 0.5 до 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Показывает в % насколько модель лучше, чем случайно работающая модель.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Arial"/>
              </a:rPr>
              <a:t>0% = предсказания случайны, 100% = ясновидец.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</TotalTime>
  <Application>LibreOffice/25.8.4.2$Linux_X86_64 LibreOffice_project/580$Build-2</Application>
  <AppVersion>15.0000</AppVersion>
  <Words>939</Words>
  <Paragraphs>194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2008-05-03T12:27:01Z</dcterms:created>
  <dc:creator>Комаров И.В.</dc:creator>
  <dc:description/>
  <dc:language>ru-RU</dc:language>
  <cp:lastModifiedBy/>
  <dcterms:modified xsi:type="dcterms:W3CDTF">2026-02-21T11:09:39Z</dcterms:modified>
  <cp:revision>460</cp:revision>
  <dc:subject/>
  <dc:title>Презентации к курсу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Notes">
    <vt:i4>1</vt:i4>
  </property>
  <property fmtid="{D5CDD505-2E9C-101B-9397-08002B2CF9AE}" pid="7" name="PresentationFormat">
    <vt:lpwstr>Широкоэкранный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31</vt:i4>
  </property>
</Properties>
</file>